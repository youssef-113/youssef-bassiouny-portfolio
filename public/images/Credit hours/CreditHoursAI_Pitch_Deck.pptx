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1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s-303-credit-hours-system.vercel.app/log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1E3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548640"/>
            <a:ext cx="1645920" cy="0"/>
          </a:xfrm>
          <a:prstGeom prst="line">
            <a:avLst/>
          </a:prstGeom>
          <a:noFill/>
          <a:ln w="19050">
            <a:solidFill>
              <a:srgbClr val="1E6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109728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114800"/>
            <a:ext cx="4572000" cy="54864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005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 Hours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846320" y="1783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System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4846320" y="2606040"/>
            <a:ext cx="3200400" cy="36576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Academic Management Platform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CS303 Course Project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3840480"/>
            <a:ext cx="841248" cy="274320"/>
          </a:xfrm>
          <a:prstGeom prst="roundRect">
            <a:avLst>
              <a:gd name="adj" fmla="val 33333"/>
            </a:avLst>
          </a:prstGeom>
          <a:solidFill>
            <a:srgbClr val="1E6FFF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6440" y="3840480"/>
            <a:ext cx="841248" cy="274320"/>
          </a:xfrm>
          <a:prstGeom prst="roundRect">
            <a:avLst>
              <a:gd name="adj" fmla="val 33333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66560" y="3840480"/>
            <a:ext cx="841248" cy="274320"/>
          </a:xfrm>
          <a:prstGeom prst="roundRect">
            <a:avLst>
              <a:gd name="adj" fmla="val 33333"/>
            </a:avLst>
          </a:prstGeom>
          <a:solidFill>
            <a:srgbClr val="FB923C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26680" y="3840480"/>
            <a:ext cx="841248" cy="274320"/>
          </a:xfrm>
          <a:prstGeom prst="roundRect">
            <a:avLst>
              <a:gd name="adj" fmla="val 33333"/>
            </a:avLst>
          </a:prstGeom>
          <a:solidFill>
            <a:srgbClr val="A78BFA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4632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000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cs-303-credit-hours-system.vercel.app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Management is Broken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Manual Enrollment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or outdated digital systems make course registration frustrating and error-prone for students.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27832" y="10972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972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No GPA Visibility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real-time GPA and credit-hour tracking, leading to graduation delays and academic surprises.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10972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0972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  Complex Prerequisites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8504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chains are hard to track manually, causing students to enroll in wrong courses.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Admin Overhead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excessive hours on enrollment management, grade entry, and reporting tasks.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27832" y="29260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9260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No Mobile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4290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lack mobile-friendly interfaces, forcing students to use desktops only.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2926080"/>
            <a:ext cx="274320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2926080"/>
            <a:ext cx="45720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6318504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Conflict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34290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conflicts and capacity limits are enforced manually, leading to scheduling disasters.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Every Academic Need.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0" y="960120"/>
            <a:ext cx="4023360" cy="868680"/>
          </a:xfrm>
          <a:prstGeom prst="rect">
            <a:avLst/>
          </a:prstGeom>
          <a:solidFill>
            <a:srgbClr val="1E6FFF">
              <a:alpha val="85000"/>
            </a:srgbClr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06040" y="1005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AI automates course enrollment, tracks academic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 real-time, and puts the university in your pocket.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114800" cy="13258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Schedule Generator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OpenAI-powered engine auto-generates optimal course schedules based on student preferences, credit limits &amp; prerequisites.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4114800" cy="13258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011680"/>
            <a:ext cx="41148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Real-time GPA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GPA calculation per semester and cumulative. Predict future GPA with what-if scenarios before enrolling.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114800" cy="13258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0440"/>
            <a:ext cx="41148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Web + Mobile Apps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portal and React Native mobile app sharing the same backend — manage academics anywhere, anytime.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520440"/>
            <a:ext cx="4114800" cy="13258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520440"/>
            <a:ext cx="41148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Role-Based 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admin roles (Superadmin, IT, Courses, Enrollment, Table) with granular permission controls and audit logs.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 &amp; How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45720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👨‍🎓 Students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109728" cy="109728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course enrollment from web or mobile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109728" cy="109728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GPA &amp; graduation progress tracking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109728" cy="109728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schedule generation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09728" cy="109728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73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prerequisite path to graduation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109728" cy="109728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22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prediction before committing to courses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115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Administrators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166420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reduction in manual enrollment processing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conflict &amp; prerequisite validation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76148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compliance &amp; accreditation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3101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273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role permissions per admin type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38587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822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enrollment analytics dashboard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005840"/>
            <a:ext cx="2743200" cy="384048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005840"/>
            <a:ext cx="274320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115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University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1664208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 supporting thousands of students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2212848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on Railway + Vercel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761488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for reliable data persistence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3310128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273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integration for media storage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858768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822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Future-ready: AI advisors, payments, offline mode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Cloud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1460" y="83034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D4FF"/>
                </a:solidFill>
              </a:rPr>
              <a:t>CLIENT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25748" cy="685800"/>
          </a:xfrm>
          <a:prstGeom prst="rect">
            <a:avLst/>
          </a:prstGeom>
          <a:solidFill>
            <a:srgbClr val="1E6FFF">
              <a:alpha val="20000"/>
            </a:srgbClr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025748" cy="64008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16736"/>
            <a:ext cx="20257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+ TailwindCSS)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17934" y="1298448"/>
            <a:ext cx="2108396" cy="685800"/>
          </a:xfrm>
          <a:prstGeom prst="rect">
            <a:avLst/>
          </a:prstGeom>
          <a:solidFill>
            <a:srgbClr val="A78BFA">
              <a:alpha val="20000"/>
            </a:srgbClr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17934" y="1234440"/>
            <a:ext cx="2108395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3022795" y="1365973"/>
            <a:ext cx="152634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(Expo + Router)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31190" y="1280160"/>
            <a:ext cx="2184010" cy="685800"/>
          </a:xfrm>
          <a:prstGeom prst="rect">
            <a:avLst/>
          </a:prstGeom>
          <a:solidFill>
            <a:srgbClr val="FB923C">
              <a:alpha val="20000"/>
            </a:srgbClr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12726" y="1223536"/>
            <a:ext cx="2202474" cy="45719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517612" y="1323418"/>
            <a:ext cx="142083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(Role-based portal)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993392"/>
            <a:ext cx="0" cy="32004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4381" y="2065137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A6FF"/>
                </a:solidFill>
              </a:rPr>
              <a:t>REST API / JWT Auth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331720"/>
            <a:ext cx="5486400" cy="731520"/>
          </a:xfrm>
          <a:prstGeom prst="rect">
            <a:avLst/>
          </a:prstGeom>
          <a:solidFill>
            <a:srgbClr val="0E1E3D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2331720"/>
            <a:ext cx="5486400" cy="36576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377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Express.js REST API Server   (Railway Cloud Deployment)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3127248"/>
            <a:ext cx="548640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 •  CORS  •  Rate Limiting  •  JWT Middleware  •  RBAC  •  Audit Logger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3520440"/>
            <a:ext cx="0" cy="320040"/>
          </a:xfrm>
          <a:prstGeom prst="line">
            <a:avLst/>
          </a:prstGeom>
          <a:noFill/>
          <a:ln w="25400">
            <a:solidFill>
              <a:srgbClr val="4D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858768"/>
            <a:ext cx="4572000" cy="685800"/>
          </a:xfrm>
          <a:prstGeom prst="rect">
            <a:avLst/>
          </a:prstGeom>
          <a:solidFill>
            <a:srgbClr val="1B3A1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0" y="3858768"/>
            <a:ext cx="4572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390448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 Atlas   (Cloud Database)   +   Cloudinary   (Media)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78505" y="1289655"/>
            <a:ext cx="1737360" cy="6858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12618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</a:t>
            </a:r>
            <a:endParaRPr lang="en-US" sz="9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F6D0841B-6790-D148-B041-08F16A929959}"/>
              </a:ext>
            </a:extLst>
          </p:cNvPr>
          <p:cNvSpPr/>
          <p:nvPr/>
        </p:nvSpPr>
        <p:spPr>
          <a:xfrm>
            <a:off x="7378505" y="1223536"/>
            <a:ext cx="1765495" cy="56624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Credit Hours AI Solves Every Pain Point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FF"/>
                </a:solidFill>
              </a:rPr>
              <a:t>PROBLEM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0" y="1005840"/>
            <a:ext cx="429768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</a:rPr>
              <a:t>SOLUTION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549640" y="1005840"/>
            <a:ext cx="45720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87325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990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Course Registration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0" y="1335024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362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enrollment with real-time capacity checks and instant confirmation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938528"/>
            <a:ext cx="87325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11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GPA Visibility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947672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975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GPA on every grade update, with semester breakdowns and prediction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075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551176"/>
            <a:ext cx="87325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6243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Complexity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560320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prerequisite tree validation blocks unauthorized enrollments automatically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2688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163824"/>
            <a:ext cx="87325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369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3172968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5-role admin system handles enrollment, grades, timetables and accounts independently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3300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776472"/>
            <a:ext cx="87325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8496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Access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3785616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813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Expo app for iOS/Android with shared API — full feature parity on mobile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389120"/>
            <a:ext cx="87325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4398264"/>
            <a:ext cx="0" cy="53035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4256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conflict and capacity validation on every enrollment request at the API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4526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✅ Live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the System Powerful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GPA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Per-semester &amp; cumulative GPA calculated via MongoDB aggregation pipelines. Recalculate on demand or predict outcomes.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234440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22192" y="1261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Schedule Generator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1691640"/>
            <a:ext cx="2514600" cy="0"/>
          </a:xfrm>
          <a:prstGeom prst="line">
            <a:avLst/>
          </a:prstGeom>
          <a:noFill/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OpenAI API generates optimized course schedules respecting prerequisites, credit limits, and time constraints.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109728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1234440"/>
            <a:ext cx="365760" cy="3657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75704" y="1261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Permission 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18504" y="1691640"/>
            <a:ext cx="2514600" cy="0"/>
          </a:xfrm>
          <a:prstGeom prst="line">
            <a:avLst/>
          </a:prstGeom>
          <a:noFill/>
          <a:ln w="9525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admin roles with 25+ fine-grained permission keys. Superadmin can grant/revoke individual permissions per admin.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0896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566160"/>
            <a:ext cx="2514600" cy="0"/>
          </a:xfrm>
          <a:prstGeom prst="line">
            <a:avLst/>
          </a:prstGeom>
          <a:noFill/>
          <a:ln w="9525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is logged with actor, target, IP address, and timestamp. Logs auto-delete after 1 year via TTL index.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27832" y="297180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64992" y="3108960"/>
            <a:ext cx="365760" cy="365760"/>
          </a:xfrm>
          <a:prstGeom prst="ellipse">
            <a:avLst/>
          </a:prstGeom>
          <a:solidFill>
            <a:srgbClr val="1E6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22192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Validation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64992" y="3566160"/>
            <a:ext cx="251460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validation: credit limits, capacity, prerequisites, time conflicts, registration windows, and rate limiting.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81344" y="2971800"/>
            <a:ext cx="2743200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18504" y="3108960"/>
            <a:ext cx="365760" cy="36576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504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75704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18504" y="3566160"/>
            <a:ext cx="2514600" cy="0"/>
          </a:xfrm>
          <a:prstGeom prst="line">
            <a:avLst/>
          </a:prstGeom>
          <a:noFill/>
          <a:ln w="9525">
            <a:solidFill>
              <a:srgbClr val="4D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 (Vercel), React Native mobile (Expo), and shared Express API (Railway) for seamless cross-platform use.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Scale and Speed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365760"/>
          </a:xfrm>
          <a:prstGeom prst="rect">
            <a:avLst/>
          </a:prstGeom>
          <a:solidFill>
            <a:srgbClr val="1E6FF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🖥️  FRONTEND (Web)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19 + TypeScript 5.9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Vite 7 — ultra-fast builds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TailwindCSS 4 — utility-first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Router 7 — SPA routing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Recharts — data visualization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Lucide React — icon library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Axios — HTTP client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2560320" cy="365760"/>
          </a:xfrm>
          <a:prstGeom prst="rect">
            <a:avLst/>
          </a:prstGeom>
          <a:solidFill>
            <a:srgbClr val="A78BFA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MOBILE (App)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Native 0.81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 SDK 54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 Router 6 — file-based nav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TypeScript 5.9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AsyncStorage — local state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 Image Picker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iOS + Android support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005840"/>
            <a:ext cx="2926080" cy="36576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BACKEND + INFRA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Express.js 5 + TypeScript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MongoDB + Mongoose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JWT + bcryptjs auth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Helmet + Rate Limiting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API (AI Schedule)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Cloudinary (photos)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Railway (backend host)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Vercel (frontend host)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1005840"/>
            <a:ext cx="0" cy="37490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1005840"/>
            <a:ext cx="0" cy="37490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 Every Stakeholder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1627632" cy="3886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005840"/>
            <a:ext cx="1627632" cy="36576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👨‍🎓 Student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0312" y="15819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enroll in courses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0312" y="20848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real-time GPA &amp; credits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0312" y="25877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schedule generation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courses &amp; track history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0312" y="3593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prediction engine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" y="40965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access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1005840"/>
            <a:ext cx="1627632" cy="3886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1005840"/>
            <a:ext cx="1627632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Superadmin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3392" y="15819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3392" y="20848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admins with custom roles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93392" y="25877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&amp; courses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complete audit logs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93392" y="3593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registration periods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93392" y="40965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credit limits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1005840"/>
            <a:ext cx="1627632" cy="3886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03320" y="1005840"/>
            <a:ext cx="1627632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3776472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IT Admin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76472" y="15819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accounts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76472" y="20848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Create/edit/delete students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76472" y="25877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password resets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7647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Activate/deactivate accounts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76472" y="3593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academic records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76472" y="40965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course 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1005840"/>
            <a:ext cx="1627632" cy="3886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0" y="1005840"/>
            <a:ext cx="1627632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5559552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Table Admin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59552" y="15819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timetables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59552" y="20848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registration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59552" y="25877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 course schedules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5955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time conflicts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59552" y="3593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schedules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59552" y="40965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account creation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69480" y="1005840"/>
            <a:ext cx="1627632" cy="38862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9480" y="1005840"/>
            <a:ext cx="1627632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7342632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Courses Admin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42632" y="15819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courses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42632" y="20848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courses to levels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42632" y="25877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 course data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4263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enrollments per course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42632" y="3593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user management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42632" y="40965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enrollment editing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E1E3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 Hours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CS303 Course Project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2377440" cy="0"/>
          </a:xfrm>
          <a:prstGeom prst="line">
            <a:avLst/>
          </a:prstGeom>
          <a:noFill/>
          <a:ln w="12700">
            <a:solidFill>
              <a:srgbClr val="1E6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cs-303-credit-hours-system.vercel.app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40480" y="182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0" y="502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People Behind the Platform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0" y="105156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49040" y="1051560"/>
            <a:ext cx="2423160" cy="36576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886200" y="1216152"/>
            <a:ext cx="457200" cy="457200"/>
          </a:xfrm>
          <a:prstGeom prst="ellipse">
            <a:avLst/>
          </a:prstGeom>
          <a:solidFill>
            <a:srgbClr val="1E6FFF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88620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3484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Bassiony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348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 + System Design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55080" y="105156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1051560"/>
            <a:ext cx="242316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2240" y="1216152"/>
            <a:ext cx="457200" cy="457200"/>
          </a:xfrm>
          <a:prstGeom prst="ellipse">
            <a:avLst/>
          </a:prstGeom>
          <a:solidFill>
            <a:srgbClr val="A78BFA">
              <a:alpha val="6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4088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Khaled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 + User Flow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749040" y="237744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49040" y="2377440"/>
            <a:ext cx="242316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886200" y="2542032"/>
            <a:ext cx="457200" cy="457200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886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4348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Mostafa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43484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355080" y="237744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55080" y="2377440"/>
            <a:ext cx="242316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Shape 27"/>
          <p:cNvSpPr/>
          <p:nvPr/>
        </p:nvSpPr>
        <p:spPr>
          <a:xfrm>
            <a:off x="6492240" y="2542032"/>
            <a:ext cx="457200" cy="457200"/>
          </a:xfrm>
          <a:prstGeom prst="ellipse">
            <a:avLst/>
          </a:prstGeom>
          <a:solidFill>
            <a:srgbClr val="FB923C">
              <a:alpha val="6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4922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408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Hazem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4088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749040" y="370332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749040" y="3703320"/>
            <a:ext cx="2423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Shape 33"/>
          <p:cNvSpPr/>
          <p:nvPr/>
        </p:nvSpPr>
        <p:spPr>
          <a:xfrm>
            <a:off x="3886200" y="3867912"/>
            <a:ext cx="457200" cy="457200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38862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4348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Ashraf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3484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355080" y="3703320"/>
            <a:ext cx="2423160" cy="1143000"/>
          </a:xfrm>
          <a:prstGeom prst="rect">
            <a:avLst/>
          </a:prstGeom>
          <a:solidFill>
            <a:srgbClr val="1F293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355080" y="3703320"/>
            <a:ext cx="242316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2" name="Shape 39"/>
          <p:cNvSpPr/>
          <p:nvPr/>
        </p:nvSpPr>
        <p:spPr>
          <a:xfrm>
            <a:off x="6492240" y="3867912"/>
            <a:ext cx="457200" cy="457200"/>
          </a:xfrm>
          <a:prstGeom prst="ellipse">
            <a:avLst/>
          </a:prstGeom>
          <a:solidFill>
            <a:srgbClr val="4DA6FF">
              <a:alpha val="6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4922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04088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Hassan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04088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65760"/>
            <a:ext cx="731520" cy="0"/>
          </a:xfrm>
          <a:prstGeom prst="line">
            <a:avLst/>
          </a:prstGeom>
          <a:noFill/>
          <a:ln w="9525">
            <a:solidFill>
              <a:srgbClr val="1E6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4572000"/>
            <a:ext cx="73152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0040"/>
            <a:ext cx="1828800" cy="1828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8" name="Shape 15"/>
          <p:cNvSpPr/>
          <p:nvPr/>
        </p:nvSpPr>
        <p:spPr>
          <a:xfrm>
            <a:off x="3200400" y="3035808"/>
            <a:ext cx="2743200" cy="36576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AI — Solving Academic Management, One Student at a Time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8872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1887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10896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1089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0292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9494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1059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Hours AI — Pitch Deck</dc:title>
  <dc:subject>PptxGenJS Presentation</dc:subject>
  <dc:creator>PptxGenJS</dc:creator>
  <cp:lastModifiedBy>youssef bassiouny</cp:lastModifiedBy>
  <cp:revision>2</cp:revision>
  <dcterms:created xsi:type="dcterms:W3CDTF">2026-05-08T00:03:40Z</dcterms:created>
  <dcterms:modified xsi:type="dcterms:W3CDTF">2026-05-08T00:45:45Z</dcterms:modified>
</cp:coreProperties>
</file>